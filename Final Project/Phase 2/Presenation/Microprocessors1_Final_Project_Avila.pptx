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6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9" r:id="rId13"/>
    <p:sldId id="265" r:id="rId14"/>
    <p:sldId id="266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7C25900-EE52-4267-94A3-6146C7F6D0DB}" v="23" dt="2026-03-13T14:15:17.16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300" y="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512662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621A"/>
          </a:solidFill>
          <a:ln w="12700">
            <a:solidFill>
              <a:srgbClr val="E862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3152"/>
            <a:ext cx="54864" cy="5070348"/>
          </a:xfrm>
          <a:prstGeom prst="rect">
            <a:avLst/>
          </a:prstGeom>
          <a:solidFill>
            <a:srgbClr val="E8621A"/>
          </a:solidFill>
          <a:ln w="12700">
            <a:solidFill>
              <a:srgbClr val="E862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097280" y="100584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0" y="54864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583680" y="82296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321040" y="164592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680960" y="36576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120640" y="64008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560320" y="27432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309360" y="137160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749040" y="45720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686800" y="54864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65760" y="100584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DemoSat High Altitude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365760" y="178308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E862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Balloon Payload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365760" y="269748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Project | ENCE 3231 Microprocessors 1  |  Winter Quarter 2026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2743200" y="3246120"/>
            <a:ext cx="3657600" cy="27432"/>
          </a:xfrm>
          <a:prstGeom prst="rect">
            <a:avLst/>
          </a:prstGeom>
          <a:solidFill>
            <a:srgbClr val="E8621A"/>
          </a:solidFill>
          <a:ln w="12700">
            <a:solidFill>
              <a:srgbClr val="E862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65760" y="342900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Angel F. Avila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65760" y="382219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Denver  |  COSGC  |  KEEN EML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112A4A"/>
          </a:solidFill>
          <a:ln w="12700">
            <a:solidFill>
              <a:srgbClr val="11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82880" y="4892040"/>
            <a:ext cx="8778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NASA Colorado Space Grant Consortium  |  DU Daniel Felix Ritchie School of Engineering &amp; Computer Science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D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PROJECT OVERVIEW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822960"/>
            <a:ext cx="274320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28600" y="822960"/>
            <a:ext cx="2743200" cy="109728"/>
          </a:xfrm>
          <a:prstGeom prst="rect">
            <a:avLst/>
          </a:prstGeom>
          <a:solidFill>
            <a:srgbClr val="E8621A"/>
          </a:solidFill>
          <a:ln w="12700">
            <a:solidFill>
              <a:srgbClr val="E862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10058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F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COSGC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5760" y="1508760"/>
            <a:ext cx="24688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NASA-funded Colorado Space Grant Consortium connects 12 Colorado colleges on real space engineering projects including the DemoSat balloon payload program.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0" y="822960"/>
            <a:ext cx="274320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200400" y="822960"/>
            <a:ext cx="2743200" cy="109728"/>
          </a:xfrm>
          <a:prstGeom prst="rect">
            <a:avLst/>
          </a:prstGeom>
          <a:solidFill>
            <a:srgbClr val="38B2AC"/>
          </a:solidFill>
          <a:ln w="12700">
            <a:solidFill>
              <a:srgbClr val="38B2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337560" y="10058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F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KEEN EML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337560" y="1508760"/>
            <a:ext cx="24688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Kern Entrepreneurial Engineering Network fosters Curiosity, connections, and the creation of value alongside technical skills to build entrepreneurial engineers.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72200" y="822960"/>
            <a:ext cx="274320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172200" y="822960"/>
            <a:ext cx="2743200" cy="10972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309360" y="10058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F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This Project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309360" y="1508760"/>
            <a:ext cx="24688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both initiatives: evaluate the current DemoSat sensor kit, then propose an alternative design that meets all requirements under cost &amp; weight limits.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74320" y="4782312"/>
            <a:ext cx="85953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 Evaluate the current DemoSat kit and design an alternative that maintains full functionality within cost &amp; weight constraints.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E8621A"/>
          </a:solidFill>
          <a:ln w="12700">
            <a:solidFill>
              <a:srgbClr val="E862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PHASE 1: SYSTEM EVALUATION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Board: Component Inventory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28600" y="1261872"/>
            <a:ext cx="4023360" cy="420624"/>
          </a:xfrm>
          <a:prstGeom prst="rect">
            <a:avLst/>
          </a:prstGeom>
          <a:solidFill>
            <a:srgbClr val="112A4A"/>
          </a:solidFill>
          <a:ln w="12700">
            <a:solidFill>
              <a:srgbClr val="11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132588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6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Microcontroller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737360" y="132588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Uno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28600" y="1700784"/>
            <a:ext cx="4023360" cy="420624"/>
          </a:xfrm>
          <a:prstGeom prst="rect">
            <a:avLst/>
          </a:prstGeom>
          <a:solidFill>
            <a:srgbClr val="0D2035"/>
          </a:solidFill>
          <a:ln w="12700">
            <a:solidFill>
              <a:srgbClr val="0D20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20040" y="176479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6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Accelerometer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737360" y="1764792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ADXL335 (±3g, analog, A4/A5)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28600" y="2139696"/>
            <a:ext cx="4023360" cy="420624"/>
          </a:xfrm>
          <a:prstGeom prst="rect">
            <a:avLst/>
          </a:prstGeom>
          <a:solidFill>
            <a:srgbClr val="112A4A"/>
          </a:solidFill>
          <a:ln w="12700">
            <a:solidFill>
              <a:srgbClr val="11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20040" y="2203704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6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Pressure Sensor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737360" y="2203704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SSCDANN015PGAA5 (analog, A3)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28600" y="2578608"/>
            <a:ext cx="4023360" cy="420624"/>
          </a:xfrm>
          <a:prstGeom prst="rect">
            <a:avLst/>
          </a:prstGeom>
          <a:solidFill>
            <a:srgbClr val="0D2035"/>
          </a:solidFill>
          <a:ln w="12700">
            <a:solidFill>
              <a:srgbClr val="0D20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20040" y="2642616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6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Humidity Sensor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737360" y="2642616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HIH-4030/31 (analog, A2)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28600" y="3017520"/>
            <a:ext cx="4023360" cy="420624"/>
          </a:xfrm>
          <a:prstGeom prst="rect">
            <a:avLst/>
          </a:prstGeom>
          <a:solidFill>
            <a:srgbClr val="112A4A"/>
          </a:solidFill>
          <a:ln w="12700">
            <a:solidFill>
              <a:srgbClr val="11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20040" y="308152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6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Ext. Temp Sensor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737360" y="3081528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TMP36 – External (analog, A1)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28600" y="3456432"/>
            <a:ext cx="4023360" cy="420624"/>
          </a:xfrm>
          <a:prstGeom prst="rect">
            <a:avLst/>
          </a:prstGeom>
          <a:solidFill>
            <a:srgbClr val="0D2035"/>
          </a:solidFill>
          <a:ln w="12700">
            <a:solidFill>
              <a:srgbClr val="0D20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20040" y="352044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6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Int. Temp Sensor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737360" y="352044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TMP36 – Internal (analog, A0)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663440" y="1261872"/>
            <a:ext cx="4023360" cy="420624"/>
          </a:xfrm>
          <a:prstGeom prst="rect">
            <a:avLst/>
          </a:prstGeom>
          <a:solidFill>
            <a:srgbClr val="112A4A"/>
          </a:solidFill>
          <a:ln w="12700">
            <a:solidFill>
              <a:srgbClr val="11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754880" y="132588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6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Logger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172200" y="132588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OpenLog (serial TX1, micro SD)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663440" y="1700784"/>
            <a:ext cx="4023360" cy="420624"/>
          </a:xfrm>
          <a:prstGeom prst="rect">
            <a:avLst/>
          </a:prstGeom>
          <a:solidFill>
            <a:srgbClr val="0D2035"/>
          </a:solidFill>
          <a:ln w="12700">
            <a:solidFill>
              <a:srgbClr val="0D20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754880" y="176479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6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LEDs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172200" y="1764792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D7 · Yellow D9 · Blue D6 · Green D5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663440" y="2139696"/>
            <a:ext cx="4023360" cy="420624"/>
          </a:xfrm>
          <a:prstGeom prst="rect">
            <a:avLst/>
          </a:prstGeom>
          <a:solidFill>
            <a:srgbClr val="112A4A"/>
          </a:solidFill>
          <a:ln w="12700">
            <a:solidFill>
              <a:srgbClr val="11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754880" y="2203704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6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LEDs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172200" y="2203704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Orange D4 · Blue D3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663440" y="2578608"/>
            <a:ext cx="4023360" cy="420624"/>
          </a:xfrm>
          <a:prstGeom prst="rect">
            <a:avLst/>
          </a:prstGeom>
          <a:solidFill>
            <a:srgbClr val="0D2035"/>
          </a:solidFill>
          <a:ln w="12700">
            <a:solidFill>
              <a:srgbClr val="0D20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754880" y="2642616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6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330Ω Resistors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172200" y="2642616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total (LED current limiting)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663440" y="3017520"/>
            <a:ext cx="4023360" cy="420624"/>
          </a:xfrm>
          <a:prstGeom prst="rect">
            <a:avLst/>
          </a:prstGeom>
          <a:solidFill>
            <a:srgbClr val="112A4A"/>
          </a:solidFill>
          <a:ln w="12700">
            <a:solidFill>
              <a:srgbClr val="11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754880" y="308152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6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172200" y="3081528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9V Battery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663440" y="3456432"/>
            <a:ext cx="4023360" cy="420624"/>
          </a:xfrm>
          <a:prstGeom prst="rect">
            <a:avLst/>
          </a:prstGeom>
          <a:solidFill>
            <a:srgbClr val="0D2035"/>
          </a:solidFill>
          <a:ln w="12700">
            <a:solidFill>
              <a:srgbClr val="0D20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754880" y="352044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6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Connectors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172200" y="352044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2-pin, 3-pin, 4-pin, 6-pin headers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228600" y="39502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 Functions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228600" y="4288536"/>
            <a:ext cx="146304" cy="146304"/>
          </a:xfrm>
          <a:prstGeom prst="ellipse">
            <a:avLst/>
          </a:prstGeom>
          <a:solidFill>
            <a:srgbClr val="FC8181"/>
          </a:solidFill>
          <a:ln w="12700">
            <a:solidFill>
              <a:srgbClr val="FC81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429768" y="4251960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(DD7) — IMU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228600" y="4526280"/>
            <a:ext cx="146304" cy="146304"/>
          </a:xfrm>
          <a:prstGeom prst="ellipse">
            <a:avLst/>
          </a:prstGeom>
          <a:solidFill>
            <a:srgbClr val="F6E05E"/>
          </a:solidFill>
          <a:ln w="12700">
            <a:solidFill>
              <a:srgbClr val="F6E0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429768" y="4489704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Yellow (DD9) — Pressure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228600" y="4764024"/>
            <a:ext cx="146304" cy="146304"/>
          </a:xfrm>
          <a:prstGeom prst="ellipse">
            <a:avLst/>
          </a:prstGeom>
          <a:solidFill>
            <a:srgbClr val="63B3ED"/>
          </a:solidFill>
          <a:ln w="12700">
            <a:solidFill>
              <a:srgbClr val="63B3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429768" y="4727448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 (DD6) — Humidity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2331720" y="4288536"/>
            <a:ext cx="146304" cy="146304"/>
          </a:xfrm>
          <a:prstGeom prst="ellipse">
            <a:avLst/>
          </a:prstGeom>
          <a:solidFill>
            <a:srgbClr val="68D391"/>
          </a:solidFill>
          <a:ln w="12700">
            <a:solidFill>
              <a:srgbClr val="68D3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2532888" y="4251960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(DD5) — External Temp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2331720" y="4526280"/>
            <a:ext cx="146304" cy="146304"/>
          </a:xfrm>
          <a:prstGeom prst="ellipse">
            <a:avLst/>
          </a:prstGeom>
          <a:solidFill>
            <a:srgbClr val="F6AD55"/>
          </a:solidFill>
          <a:ln w="12700">
            <a:solidFill>
              <a:srgbClr val="F6AD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2532888" y="4489704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Orange (DD4) — Internal Temp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2331720" y="4764024"/>
            <a:ext cx="146304" cy="146304"/>
          </a:xfrm>
          <a:prstGeom prst="ellipse">
            <a:avLst/>
          </a:prstGeom>
          <a:solidFill>
            <a:srgbClr val="63B3ED"/>
          </a:solidFill>
          <a:ln w="12700">
            <a:solidFill>
              <a:srgbClr val="63B3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2532888" y="4727448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 (DD3) — Arduino Power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D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PHASE 1: BLOCK DIAGRAM (ORIGINAL SYSTEM)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566160" y="2011680"/>
            <a:ext cx="2011680" cy="1097280"/>
          </a:xfrm>
          <a:prstGeom prst="rect">
            <a:avLst/>
          </a:prstGeom>
          <a:solidFill>
            <a:srgbClr val="0B1F3A"/>
          </a:solidFill>
          <a:ln w="25400">
            <a:solidFill>
              <a:srgbClr val="E8621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566160" y="210312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Uno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(MP)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777240"/>
            <a:ext cx="2286000" cy="548640"/>
          </a:xfrm>
          <a:prstGeom prst="rect">
            <a:avLst/>
          </a:prstGeom>
          <a:solidFill>
            <a:srgbClr val="38B2AC">
              <a:alpha val="85000"/>
            </a:srgbClr>
          </a:solidFill>
          <a:ln w="12700">
            <a:solidFill>
              <a:srgbClr val="38B2A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0040" y="813816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Ext. Temp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TMP36 (A1)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578608" y="905256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74320" y="1417320"/>
            <a:ext cx="2286000" cy="548640"/>
          </a:xfrm>
          <a:prstGeom prst="rect">
            <a:avLst/>
          </a:prstGeom>
          <a:solidFill>
            <a:srgbClr val="38B2AC">
              <a:alpha val="85000"/>
            </a:srgbClr>
          </a:solidFill>
          <a:ln w="12700">
            <a:solidFill>
              <a:srgbClr val="38B2A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20040" y="1453896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Int. Temp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TMP36 (A0)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578608" y="1545336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A0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74320" y="2057400"/>
            <a:ext cx="2286000" cy="548640"/>
          </a:xfrm>
          <a:prstGeom prst="rect">
            <a:avLst/>
          </a:prstGeom>
          <a:solidFill>
            <a:srgbClr val="F5A623">
              <a:alpha val="85000"/>
            </a:srgbClr>
          </a:solidFill>
          <a:ln w="12700">
            <a:solidFill>
              <a:srgbClr val="F5A62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20040" y="2093976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Humidity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HIH-4030 (A2)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578608" y="2185416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274320" y="2697480"/>
            <a:ext cx="2286000" cy="548640"/>
          </a:xfrm>
          <a:prstGeom prst="rect">
            <a:avLst/>
          </a:prstGeom>
          <a:solidFill>
            <a:srgbClr val="F5A623">
              <a:alpha val="85000"/>
            </a:srgbClr>
          </a:solidFill>
          <a:ln w="12700">
            <a:solidFill>
              <a:srgbClr val="F5A62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20040" y="2734056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Pressure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SSCDAN (A3)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578608" y="2825496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A3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274320" y="3337560"/>
            <a:ext cx="2286000" cy="548640"/>
          </a:xfrm>
          <a:prstGeom prst="rect">
            <a:avLst/>
          </a:prstGeom>
          <a:solidFill>
            <a:srgbClr val="E8621A">
              <a:alpha val="85000"/>
            </a:srgbClr>
          </a:solidFill>
          <a:ln w="12700">
            <a:solidFill>
              <a:srgbClr val="E8621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20040" y="3374136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Accelerometer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ADXL335 (A4/A5)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578608" y="3465576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A4/A5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6583680" y="914400"/>
            <a:ext cx="2286000" cy="594360"/>
          </a:xfrm>
          <a:prstGeom prst="rect">
            <a:avLst/>
          </a:prstGeom>
          <a:solidFill>
            <a:srgbClr val="38B2AC">
              <a:alpha val="85000"/>
            </a:srgbClr>
          </a:solidFill>
          <a:ln w="12700">
            <a:solidFill>
              <a:srgbClr val="38B2A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629400" y="9601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OpenLog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(SD Card, TX1)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583680" y="1691640"/>
            <a:ext cx="2286000" cy="594360"/>
          </a:xfrm>
          <a:prstGeom prst="rect">
            <a:avLst/>
          </a:prstGeom>
          <a:solidFill>
            <a:srgbClr val="F5A623">
              <a:alpha val="85000"/>
            </a:srgbClr>
          </a:solidFill>
          <a:ln w="12700">
            <a:solidFill>
              <a:srgbClr val="F5A62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629400" y="17373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LEDs x6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(D3–D7, D9)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583680" y="2468880"/>
            <a:ext cx="2286000" cy="594360"/>
          </a:xfrm>
          <a:prstGeom prst="rect">
            <a:avLst/>
          </a:prstGeom>
          <a:solidFill>
            <a:srgbClr val="E8621A">
              <a:alpha val="85000"/>
            </a:srgbClr>
          </a:solidFill>
          <a:ln w="12700">
            <a:solidFill>
              <a:srgbClr val="E8621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629400" y="25146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9V Battery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(Power)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28600" y="4114800"/>
            <a:ext cx="8686800" cy="594360"/>
          </a:xfrm>
          <a:prstGeom prst="rect">
            <a:avLst/>
          </a:prstGeom>
          <a:solidFill>
            <a:srgbClr val="FFF3CD"/>
          </a:solidFill>
          <a:ln w="12700">
            <a:solidFill>
              <a:srgbClr val="F6AD55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365760" y="41605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B3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Unavailable components: HIH-4030/31 Humidity Sensor · SSCDAN Pressure Sensor · ADXL335 Accelerometer </a:t>
            </a:r>
            <a:endParaRPr lang="en-US" sz="1100" dirty="0"/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971940C6-B3BE-1FA0-0A7D-2B1440D365B7}"/>
              </a:ext>
            </a:extLst>
          </p:cNvPr>
          <p:cNvCxnSpPr/>
          <p:nvPr/>
        </p:nvCxnSpPr>
        <p:spPr>
          <a:xfrm flipV="1">
            <a:off x="2560320" y="3191776"/>
            <a:ext cx="993843" cy="274320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B3EF6714-20FF-2BCC-439E-2D355B42D447}"/>
              </a:ext>
            </a:extLst>
          </p:cNvPr>
          <p:cNvCxnSpPr>
            <a:cxnSpLocks/>
          </p:cNvCxnSpPr>
          <p:nvPr/>
        </p:nvCxnSpPr>
        <p:spPr>
          <a:xfrm flipV="1">
            <a:off x="2572316" y="2439309"/>
            <a:ext cx="948124" cy="6679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21787BED-B3CF-D294-8C74-898ABFC00DD0}"/>
              </a:ext>
            </a:extLst>
          </p:cNvPr>
          <p:cNvCxnSpPr>
            <a:cxnSpLocks/>
          </p:cNvCxnSpPr>
          <p:nvPr/>
        </p:nvCxnSpPr>
        <p:spPr>
          <a:xfrm>
            <a:off x="2572317" y="1806459"/>
            <a:ext cx="948123" cy="370333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A8C7FEA3-E538-E2A1-1ACA-AE597B94A845}"/>
              </a:ext>
            </a:extLst>
          </p:cNvPr>
          <p:cNvCxnSpPr>
            <a:cxnSpLocks/>
          </p:cNvCxnSpPr>
          <p:nvPr/>
        </p:nvCxnSpPr>
        <p:spPr>
          <a:xfrm>
            <a:off x="2578608" y="1213493"/>
            <a:ext cx="993843" cy="697863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0C44F9B1-E4A0-654F-ACAD-ECB367555EAD}"/>
              </a:ext>
            </a:extLst>
          </p:cNvPr>
          <p:cNvCxnSpPr/>
          <p:nvPr/>
        </p:nvCxnSpPr>
        <p:spPr>
          <a:xfrm flipV="1">
            <a:off x="2578608" y="2754225"/>
            <a:ext cx="993843" cy="274320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E8F790FF-AC6C-F4C4-72EF-895A363ABE5C}"/>
              </a:ext>
            </a:extLst>
          </p:cNvPr>
          <p:cNvCxnSpPr>
            <a:cxnSpLocks/>
            <a:endCxn id="26" idx="1"/>
          </p:cNvCxnSpPr>
          <p:nvPr/>
        </p:nvCxnSpPr>
        <p:spPr>
          <a:xfrm flipV="1">
            <a:off x="5592561" y="1211580"/>
            <a:ext cx="991119" cy="829640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EB7B6E2F-CB59-520D-E5A4-FB5A48ADC779}"/>
              </a:ext>
            </a:extLst>
          </p:cNvPr>
          <p:cNvCxnSpPr>
            <a:cxnSpLocks/>
          </p:cNvCxnSpPr>
          <p:nvPr/>
        </p:nvCxnSpPr>
        <p:spPr>
          <a:xfrm flipV="1">
            <a:off x="5578813" y="2132660"/>
            <a:ext cx="973868" cy="53016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E705A513-AA7E-3160-6975-18D14B9141E4}"/>
              </a:ext>
            </a:extLst>
          </p:cNvPr>
          <p:cNvCxnSpPr>
            <a:cxnSpLocks/>
            <a:endCxn id="32" idx="1"/>
          </p:cNvCxnSpPr>
          <p:nvPr/>
        </p:nvCxnSpPr>
        <p:spPr>
          <a:xfrm flipV="1">
            <a:off x="5592561" y="2766060"/>
            <a:ext cx="991119" cy="34290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E8621A"/>
          </a:solidFill>
          <a:ln w="12700">
            <a:solidFill>
              <a:srgbClr val="E862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PHASE 1: POWER &amp; WEIGHT ANALYSIS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Consumption per Component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74320" y="1225296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Uno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965960" y="1243584"/>
            <a:ext cx="2000250" cy="274320"/>
          </a:xfrm>
          <a:prstGeom prst="rect">
            <a:avLst/>
          </a:prstGeom>
          <a:solidFill>
            <a:srgbClr val="63B3ED"/>
          </a:solidFill>
          <a:ln w="12700">
            <a:solidFill>
              <a:srgbClr val="63B3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039362" y="1225296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mA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74320" y="1682496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 Card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965960" y="1700784"/>
            <a:ext cx="3200400" cy="274320"/>
          </a:xfrm>
          <a:prstGeom prst="rect">
            <a:avLst/>
          </a:prstGeom>
          <a:solidFill>
            <a:srgbClr val="F6AD55"/>
          </a:solidFill>
          <a:ln w="12700">
            <a:solidFill>
              <a:srgbClr val="F6AD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239512" y="1682496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mA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74320" y="2139696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LEDs (×6)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965960" y="2157984"/>
            <a:ext cx="400050" cy="274320"/>
          </a:xfrm>
          <a:prstGeom prst="rect">
            <a:avLst/>
          </a:prstGeom>
          <a:solidFill>
            <a:srgbClr val="FC8181"/>
          </a:solidFill>
          <a:ln w="12700">
            <a:solidFill>
              <a:srgbClr val="FC81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439162" y="2139696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mA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74320" y="2596896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Pressure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965960" y="2615184"/>
            <a:ext cx="60008" cy="274320"/>
          </a:xfrm>
          <a:prstGeom prst="rect">
            <a:avLst/>
          </a:prstGeom>
          <a:solidFill>
            <a:srgbClr val="68D391"/>
          </a:solidFill>
          <a:ln w="12700">
            <a:solidFill>
              <a:srgbClr val="68D3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099120" y="2596896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 mA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74320" y="3054096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Humidity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965960" y="3072384"/>
            <a:ext cx="40005" cy="274320"/>
          </a:xfrm>
          <a:prstGeom prst="rect">
            <a:avLst/>
          </a:prstGeom>
          <a:solidFill>
            <a:srgbClr val="B794F4"/>
          </a:solidFill>
          <a:ln w="12700">
            <a:solidFill>
              <a:srgbClr val="B794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079117" y="3054096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mA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74320" y="3511296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 ×2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965960" y="3529584"/>
            <a:ext cx="40005" cy="274320"/>
          </a:xfrm>
          <a:prstGeom prst="rect">
            <a:avLst/>
          </a:prstGeom>
          <a:solidFill>
            <a:srgbClr val="76E4F7"/>
          </a:solidFill>
          <a:ln w="12700">
            <a:solidFill>
              <a:srgbClr val="76E4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2079117" y="3511296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mA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74320" y="3968496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Accelerometer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965960" y="3986784"/>
            <a:ext cx="20003" cy="274320"/>
          </a:xfrm>
          <a:prstGeom prst="rect">
            <a:avLst/>
          </a:prstGeom>
          <a:solidFill>
            <a:srgbClr val="FBD38D"/>
          </a:solidFill>
          <a:ln w="12700">
            <a:solidFill>
              <a:srgbClr val="FBD38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2059115" y="3968496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 mA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74320" y="4343400"/>
            <a:ext cx="2011680" cy="502920"/>
          </a:xfrm>
          <a:prstGeom prst="rect">
            <a:avLst/>
          </a:prstGeom>
          <a:solidFill>
            <a:srgbClr val="E8621A"/>
          </a:solidFill>
          <a:ln w="12700">
            <a:solidFill>
              <a:srgbClr val="E862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274320" y="437083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146 mA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029200" y="777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Breakdown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937760" y="1207008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Uno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629400" y="1234440"/>
            <a:ext cx="290945" cy="256032"/>
          </a:xfrm>
          <a:prstGeom prst="rect">
            <a:avLst/>
          </a:prstGeom>
          <a:solidFill>
            <a:srgbClr val="63B3ED"/>
          </a:solidFill>
          <a:ln w="12700">
            <a:solidFill>
              <a:srgbClr val="63B3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993497" y="1207008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7g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937760" y="1600200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Accelerometer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629400" y="1627632"/>
            <a:ext cx="415636" cy="256032"/>
          </a:xfrm>
          <a:prstGeom prst="rect">
            <a:avLst/>
          </a:prstGeom>
          <a:solidFill>
            <a:srgbClr val="FBD38D"/>
          </a:solidFill>
          <a:ln w="12700">
            <a:solidFill>
              <a:srgbClr val="FBD38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7118188" y="1600200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10g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937760" y="1993392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Pressure Sensor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629400" y="2020824"/>
            <a:ext cx="207818" cy="256032"/>
          </a:xfrm>
          <a:prstGeom prst="rect">
            <a:avLst/>
          </a:prstGeom>
          <a:solidFill>
            <a:srgbClr val="68D391"/>
          </a:solidFill>
          <a:ln w="12700">
            <a:solidFill>
              <a:srgbClr val="68D3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910370" y="1993392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5g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937760" y="2386584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Humidity Sensor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629400" y="2414016"/>
            <a:ext cx="1039091" cy="256032"/>
          </a:xfrm>
          <a:prstGeom prst="rect">
            <a:avLst/>
          </a:prstGeom>
          <a:solidFill>
            <a:srgbClr val="B794F4"/>
          </a:solidFill>
          <a:ln w="12700">
            <a:solidFill>
              <a:srgbClr val="B794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7741643" y="2386584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25g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937760" y="2779776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 Sensors ×2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629400" y="2807208"/>
            <a:ext cx="831273" cy="256032"/>
          </a:xfrm>
          <a:prstGeom prst="rect">
            <a:avLst/>
          </a:prstGeom>
          <a:solidFill>
            <a:srgbClr val="76E4F7"/>
          </a:solidFill>
          <a:ln w="12700">
            <a:solidFill>
              <a:srgbClr val="76E4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7533825" y="2779776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20g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937760" y="3172968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 Card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629400" y="3200400"/>
            <a:ext cx="83127" cy="256032"/>
          </a:xfrm>
          <a:prstGeom prst="rect">
            <a:avLst/>
          </a:prstGeom>
          <a:solidFill>
            <a:srgbClr val="F6AD55"/>
          </a:solidFill>
          <a:ln w="12700">
            <a:solidFill>
              <a:srgbClr val="F6AD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6785679" y="3172968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2g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4937760" y="3566160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LEDs+Resistors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629400" y="3593592"/>
            <a:ext cx="41564" cy="256032"/>
          </a:xfrm>
          <a:prstGeom prst="rect">
            <a:avLst/>
          </a:prstGeom>
          <a:solidFill>
            <a:srgbClr val="FC8181"/>
          </a:solidFill>
          <a:ln w="12700">
            <a:solidFill>
              <a:srgbClr val="FC81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6744116" y="3566160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1g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4937760" y="3959352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+ PCB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629400" y="4032504"/>
            <a:ext cx="2024149" cy="210312"/>
          </a:xfrm>
          <a:prstGeom prst="rect">
            <a:avLst/>
          </a:prstGeom>
          <a:solidFill>
            <a:srgbClr val="A0AEC0"/>
          </a:solidFill>
          <a:ln w="12700">
            <a:solidFill>
              <a:srgbClr val="A0AE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8730805" y="3986784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77g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4937760" y="4343400"/>
            <a:ext cx="2194560" cy="5029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4937760" y="437083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~147g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D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PHASE 2:  ALTERNATIVE DESIGN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Requirements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50292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38B2A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1234440"/>
            <a:ext cx="73152" cy="566928"/>
          </a:xfrm>
          <a:prstGeom prst="rect">
            <a:avLst/>
          </a:prstGeom>
          <a:solidFill>
            <a:srgbClr val="38B2AC"/>
          </a:solidFill>
          <a:ln w="12700">
            <a:solidFill>
              <a:srgbClr val="38B2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130759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Cost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645920" y="13258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$147 total (lower preferred)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1892808"/>
            <a:ext cx="50292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8621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74320" y="1892808"/>
            <a:ext cx="73152" cy="566928"/>
          </a:xfrm>
          <a:prstGeom prst="rect">
            <a:avLst/>
          </a:prstGeom>
          <a:solidFill>
            <a:srgbClr val="E8621A"/>
          </a:solidFill>
          <a:ln w="12700">
            <a:solidFill>
              <a:srgbClr val="E862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2920" y="196596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 Weight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645920" y="198424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200g maximum payload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" y="2551176"/>
            <a:ext cx="50292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F5A62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74320" y="2551176"/>
            <a:ext cx="73152" cy="56692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02920" y="2624328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Power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645920" y="2642616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consumption than 146mA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4320" y="3209544"/>
            <a:ext cx="50292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805AD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274320" y="3209544"/>
            <a:ext cx="73152" cy="566928"/>
          </a:xfrm>
          <a:prstGeom prst="rect">
            <a:avLst/>
          </a:prstGeom>
          <a:solidFill>
            <a:srgbClr val="805AD5"/>
          </a:solidFill>
          <a:ln w="12700">
            <a:solidFill>
              <a:srgbClr val="805A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02920" y="3282696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Functionality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645920" y="3300984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 (int/ext), humidity, pressure, 3-axis accel, LEDs, SD storage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74320" y="3867912"/>
            <a:ext cx="50292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38B2A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274320" y="3867912"/>
            <a:ext cx="73152" cy="566928"/>
          </a:xfrm>
          <a:prstGeom prst="rect">
            <a:avLst/>
          </a:prstGeom>
          <a:solidFill>
            <a:srgbClr val="38B2AC"/>
          </a:solidFill>
          <a:ln w="12700">
            <a:solidFill>
              <a:srgbClr val="38B2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02920" y="3941064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🔌 PCB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645920" y="395935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PCB design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577840" y="3776472"/>
            <a:ext cx="3291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must all be replaced.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E8621A"/>
          </a:solidFill>
          <a:ln w="12700">
            <a:solidFill>
              <a:srgbClr val="E862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PHASE 2: SCHEMATIC DESIGN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8412480" cy="3474720"/>
          </a:xfrm>
          <a:prstGeom prst="rect">
            <a:avLst/>
          </a:prstGeom>
          <a:solidFill>
            <a:srgbClr val="0D2035"/>
          </a:solidFill>
          <a:ln w="25400">
            <a:solidFill>
              <a:srgbClr val="E862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210312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86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  INSERT SCHEMATIC SCREENSHOT HERE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274320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KiCad Schematic Editor → File → Export → SVG  or  take a screenshot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4434840"/>
            <a:ext cx="1325880" cy="594360"/>
          </a:xfrm>
          <a:prstGeom prst="rect">
            <a:avLst/>
          </a:prstGeom>
          <a:solidFill>
            <a:srgbClr val="38B2AC">
              <a:alpha val="80000"/>
            </a:srgbClr>
          </a:solidFill>
          <a:ln w="12700">
            <a:solidFill>
              <a:srgbClr val="38B2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65760" y="4462272"/>
            <a:ext cx="1325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Uno R3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783080" y="4434840"/>
            <a:ext cx="1325880" cy="594360"/>
          </a:xfrm>
          <a:prstGeom prst="rect">
            <a:avLst/>
          </a:prstGeom>
          <a:solidFill>
            <a:srgbClr val="F5A623">
              <a:alpha val="80000"/>
            </a:srgbClr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783080" y="4462272"/>
            <a:ext cx="1325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Adafruit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HSB007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00400" y="4434840"/>
            <a:ext cx="1325880" cy="594360"/>
          </a:xfrm>
          <a:prstGeom prst="rect">
            <a:avLst/>
          </a:prstGeom>
          <a:solidFill>
            <a:srgbClr val="E8621A">
              <a:alpha val="80000"/>
            </a:srgbClr>
          </a:solidFill>
          <a:ln w="12700">
            <a:solidFill>
              <a:srgbClr val="E862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200400" y="4462272"/>
            <a:ext cx="1325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SparkFun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LIS3DH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617720" y="4434840"/>
            <a:ext cx="1325880" cy="594360"/>
          </a:xfrm>
          <a:prstGeom prst="rect">
            <a:avLst/>
          </a:prstGeom>
          <a:solidFill>
            <a:srgbClr val="805AD5">
              <a:alpha val="80000"/>
            </a:srgbClr>
          </a:solidFill>
          <a:ln w="12700">
            <a:solidFill>
              <a:srgbClr val="805A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617720" y="4462272"/>
            <a:ext cx="1325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TMP36GT9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Int. Temp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035040" y="4434840"/>
            <a:ext cx="1325880" cy="594360"/>
          </a:xfrm>
          <a:prstGeom prst="rect">
            <a:avLst/>
          </a:prstGeom>
          <a:solidFill>
            <a:srgbClr val="38B2AC">
              <a:alpha val="80000"/>
            </a:srgbClr>
          </a:solidFill>
          <a:ln w="12700">
            <a:solidFill>
              <a:srgbClr val="38B2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035040" y="4462272"/>
            <a:ext cx="1325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SparkFun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DEV-13712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452360" y="4434840"/>
            <a:ext cx="1325880" cy="594360"/>
          </a:xfrm>
          <a:prstGeom prst="rect">
            <a:avLst/>
          </a:prstGeom>
          <a:solidFill>
            <a:srgbClr val="F5A623">
              <a:alpha val="80000"/>
            </a:srgbClr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452360" y="4462272"/>
            <a:ext cx="1325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OpenLog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 Card</a:t>
            </a:r>
            <a:endParaRPr lang="en-US" sz="9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FC9432E1-B9EE-2C45-4F8A-915F5AB9BCF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313" t="16533" r="7601" b="8085"/>
          <a:stretch>
            <a:fillRect/>
          </a:stretch>
        </p:blipFill>
        <p:spPr>
          <a:xfrm>
            <a:off x="2069073" y="845820"/>
            <a:ext cx="5097294" cy="348288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PHASE 2: SYSTEM BLOCK DIAGRAM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520440" y="1828800"/>
            <a:ext cx="2103120" cy="1188720"/>
          </a:xfrm>
          <a:prstGeom prst="rect">
            <a:avLst/>
          </a:prstGeom>
          <a:solidFill>
            <a:srgbClr val="0B1F3A"/>
          </a:solidFill>
          <a:ln w="31750">
            <a:solidFill>
              <a:srgbClr val="E8621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520440" y="192024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Uno R3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(Microcontroller)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28600" y="777240"/>
            <a:ext cx="2468880" cy="621792"/>
          </a:xfrm>
          <a:prstGeom prst="rect">
            <a:avLst/>
          </a:prstGeom>
          <a:solidFill>
            <a:srgbClr val="38B2AC">
              <a:alpha val="80000"/>
            </a:srgbClr>
          </a:solidFill>
          <a:ln w="12700">
            <a:solidFill>
              <a:srgbClr val="38B2A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813816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Adafruit HSB007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Pressure/Humidity/Temp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2212848" y="923544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I2C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A4/A5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28600" y="1554480"/>
            <a:ext cx="2468880" cy="621792"/>
          </a:xfrm>
          <a:prstGeom prst="rect">
            <a:avLst/>
          </a:prstGeom>
          <a:solidFill>
            <a:srgbClr val="F5A623">
              <a:alpha val="80000"/>
            </a:srgbClr>
          </a:solidFill>
          <a:ln w="12700">
            <a:solidFill>
              <a:srgbClr val="F5A62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74320" y="1591056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TMP36GT9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Temp (A0)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212848" y="1700784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A0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28600" y="2331720"/>
            <a:ext cx="2468880" cy="621792"/>
          </a:xfrm>
          <a:prstGeom prst="rect">
            <a:avLst/>
          </a:prstGeom>
          <a:solidFill>
            <a:srgbClr val="E8621A">
              <a:alpha val="80000"/>
            </a:srgbClr>
          </a:solidFill>
          <a:ln w="12700">
            <a:solidFill>
              <a:srgbClr val="E8621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74320" y="2368296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SparkFun LIS3DH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Triple Axis Accel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212848" y="2478024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I2C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A4/A5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228600" y="3108960"/>
            <a:ext cx="2468880" cy="621792"/>
          </a:xfrm>
          <a:prstGeom prst="rect">
            <a:avLst/>
          </a:prstGeom>
          <a:solidFill>
            <a:srgbClr val="805AD5">
              <a:alpha val="80000"/>
            </a:srgbClr>
          </a:solidFill>
          <a:ln w="12700">
            <a:solidFill>
              <a:srgbClr val="805AD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74320" y="3145536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9V Battery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Supply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212848" y="3255264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VIN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6446520" y="868680"/>
            <a:ext cx="2468880" cy="621792"/>
          </a:xfrm>
          <a:prstGeom prst="rect">
            <a:avLst/>
          </a:prstGeom>
          <a:solidFill>
            <a:srgbClr val="38B2AC">
              <a:alpha val="80000"/>
            </a:srgbClr>
          </a:solidFill>
          <a:ln w="12700">
            <a:solidFill>
              <a:srgbClr val="38B2A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492240" y="905256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OpenLog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 Card Data Logger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989320" y="1161288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TX1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6446520" y="1691640"/>
            <a:ext cx="2468880" cy="621792"/>
          </a:xfrm>
          <a:prstGeom prst="rect">
            <a:avLst/>
          </a:prstGeom>
          <a:solidFill>
            <a:srgbClr val="F5A623">
              <a:alpha val="80000"/>
            </a:srgbClr>
          </a:solidFill>
          <a:ln w="12700">
            <a:solidFill>
              <a:srgbClr val="F5A62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492240" y="1728216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 Array ×4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Indicators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920740" y="185623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D5–D9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6446520" y="2514600"/>
            <a:ext cx="2468880" cy="621792"/>
          </a:xfrm>
          <a:prstGeom prst="rect">
            <a:avLst/>
          </a:prstGeom>
          <a:solidFill>
            <a:srgbClr val="E8621A">
              <a:alpha val="80000"/>
            </a:srgbClr>
          </a:solidFill>
          <a:ln w="12700">
            <a:solidFill>
              <a:srgbClr val="E8621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492240" y="2551176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SparkFun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DEV-13712 Module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920740" y="2660904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D4/D5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6446520" y="3337560"/>
            <a:ext cx="2468880" cy="621792"/>
          </a:xfrm>
          <a:prstGeom prst="rect">
            <a:avLst/>
          </a:prstGeom>
          <a:solidFill>
            <a:srgbClr val="805AD5">
              <a:alpha val="80000"/>
            </a:srgbClr>
          </a:solidFill>
          <a:ln w="12700">
            <a:solidFill>
              <a:srgbClr val="805AD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492240" y="3374136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Circuit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LD1117V33 + Caps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046470" y="352501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3.3V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228600" y="4315968"/>
            <a:ext cx="8686800" cy="457200"/>
          </a:xfrm>
          <a:prstGeom prst="rect">
            <a:avLst/>
          </a:prstGeom>
          <a:solidFill>
            <a:srgbClr val="FFFBEB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365760" y="4343400"/>
            <a:ext cx="8412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Adafruit HSB007 and SparkFun LIS3DH both use I2C (A4/A5 shared bus). TMP36GT9 uses analog A0. SparkFun DEV-13712 connects via digital pins.</a:t>
            </a:r>
            <a:endParaRPr lang="en-US" sz="1100" dirty="0"/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37BBAE80-9B8F-6970-F7D3-E63164ACC976}"/>
              </a:ext>
            </a:extLst>
          </p:cNvPr>
          <p:cNvCxnSpPr>
            <a:cxnSpLocks/>
            <a:stCxn id="20" idx="3"/>
          </p:cNvCxnSpPr>
          <p:nvPr/>
        </p:nvCxnSpPr>
        <p:spPr>
          <a:xfrm flipV="1">
            <a:off x="2715768" y="2926080"/>
            <a:ext cx="802386" cy="489204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32E38F4C-C484-382A-BD00-15A5F6C53AFD}"/>
              </a:ext>
            </a:extLst>
          </p:cNvPr>
          <p:cNvCxnSpPr>
            <a:cxnSpLocks/>
            <a:stCxn id="8" idx="3"/>
          </p:cNvCxnSpPr>
          <p:nvPr/>
        </p:nvCxnSpPr>
        <p:spPr>
          <a:xfrm>
            <a:off x="2715768" y="1083564"/>
            <a:ext cx="729931" cy="714879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35238199-776E-AC94-C555-A443B727FF20}"/>
              </a:ext>
            </a:extLst>
          </p:cNvPr>
          <p:cNvCxnSpPr>
            <a:cxnSpLocks/>
            <a:endCxn id="4" idx="1"/>
          </p:cNvCxnSpPr>
          <p:nvPr/>
        </p:nvCxnSpPr>
        <p:spPr>
          <a:xfrm flipV="1">
            <a:off x="2682191" y="2423160"/>
            <a:ext cx="838249" cy="239753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181AD0F8-5008-F15F-F7A9-53768474BCCA}"/>
              </a:ext>
            </a:extLst>
          </p:cNvPr>
          <p:cNvCxnSpPr>
            <a:cxnSpLocks/>
          </p:cNvCxnSpPr>
          <p:nvPr/>
        </p:nvCxnSpPr>
        <p:spPr>
          <a:xfrm>
            <a:off x="2697480" y="1968612"/>
            <a:ext cx="748219" cy="1124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AEEF0721-3E71-8541-441D-6D5E9E1D079B}"/>
              </a:ext>
            </a:extLst>
          </p:cNvPr>
          <p:cNvCxnSpPr>
            <a:cxnSpLocks/>
          </p:cNvCxnSpPr>
          <p:nvPr/>
        </p:nvCxnSpPr>
        <p:spPr>
          <a:xfrm flipV="1">
            <a:off x="5659730" y="1441003"/>
            <a:ext cx="739376" cy="492953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BD344408-0F64-5C76-77FB-CD073356B078}"/>
              </a:ext>
            </a:extLst>
          </p:cNvPr>
          <p:cNvCxnSpPr>
            <a:cxnSpLocks/>
          </p:cNvCxnSpPr>
          <p:nvPr/>
        </p:nvCxnSpPr>
        <p:spPr>
          <a:xfrm flipV="1">
            <a:off x="5648300" y="2143903"/>
            <a:ext cx="750806" cy="26289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0F9967B7-F559-1CF7-2CFF-AA9C657B9ACD}"/>
              </a:ext>
            </a:extLst>
          </p:cNvPr>
          <p:cNvCxnSpPr>
            <a:cxnSpLocks/>
          </p:cNvCxnSpPr>
          <p:nvPr/>
        </p:nvCxnSpPr>
        <p:spPr>
          <a:xfrm>
            <a:off x="5669280" y="2718054"/>
            <a:ext cx="795528" cy="15225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1295D023-89AA-DCF8-8F3F-B30DC3B2AA4E}"/>
              </a:ext>
            </a:extLst>
          </p:cNvPr>
          <p:cNvCxnSpPr>
            <a:cxnSpLocks/>
          </p:cNvCxnSpPr>
          <p:nvPr/>
        </p:nvCxnSpPr>
        <p:spPr>
          <a:xfrm>
            <a:off x="5600700" y="2973309"/>
            <a:ext cx="868680" cy="53871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38B2AC"/>
          </a:solidFill>
          <a:ln w="12700">
            <a:solidFill>
              <a:srgbClr val="38B2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PHASE 2: PCB DESIGN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4114800" cy="3200400"/>
          </a:xfrm>
          <a:prstGeom prst="rect">
            <a:avLst/>
          </a:prstGeom>
          <a:solidFill>
            <a:srgbClr val="0D2035"/>
          </a:solidFill>
          <a:ln w="25400">
            <a:solidFill>
              <a:srgbClr val="38B2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1645920"/>
            <a:ext cx="4114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8B2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  INSERT PCB FRONT VIEW</a:t>
            </a:r>
            <a:endParaRPr lang="en-US" sz="1300" dirty="0"/>
          </a:p>
          <a:p>
            <a:pPr marL="0" indent="0" algn="ctr">
              <a:buNone/>
            </a:pP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38B2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KiCad PCB Editor → 3D Viewer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38B2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screenshot of layout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74320" y="8686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8B2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/ TOP LAYER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822960"/>
            <a:ext cx="4114800" cy="3200400"/>
          </a:xfrm>
          <a:prstGeom prst="rect">
            <a:avLst/>
          </a:prstGeom>
          <a:solidFill>
            <a:srgbClr val="0D2035"/>
          </a:solidFill>
          <a:ln w="25400">
            <a:solidFill>
              <a:srgbClr val="E862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754880" y="1645920"/>
            <a:ext cx="4114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86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  INSERT PCB 3D VIEW</a:t>
            </a:r>
            <a:endParaRPr lang="en-US" sz="1300" dirty="0"/>
          </a:p>
          <a:p>
            <a:pPr marL="0" indent="0" algn="ctr">
              <a:buNone/>
            </a:pP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E86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KiCad PCB Editor → View → 3D Viewer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E86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 Ctrl+3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754880" y="8686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6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RENDER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590541" y="4213244"/>
            <a:ext cx="1664208" cy="685800"/>
          </a:xfrm>
          <a:prstGeom prst="rect">
            <a:avLst/>
          </a:prstGeom>
          <a:solidFill>
            <a:srgbClr val="0D2035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499749" y="4331662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Manufacturer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545145" y="4545930"/>
            <a:ext cx="1664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OSH Park (USA)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754880" y="4180170"/>
            <a:ext cx="1664208" cy="685800"/>
          </a:xfrm>
          <a:prstGeom prst="rect">
            <a:avLst/>
          </a:prstGeom>
          <a:solidFill>
            <a:srgbClr val="0D2035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754880" y="4224528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Est. Cost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754880" y="4480560"/>
            <a:ext cx="1664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~$28–35 for 3 boards</a:t>
            </a:r>
            <a:endParaRPr lang="en-US" sz="900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6B77E6F3-C522-2971-7315-9E4B8A33E5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9824" y="1150209"/>
            <a:ext cx="2796919" cy="2782745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457CB8B9-B47E-CF24-FBA7-80CDC00134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254" y="1306100"/>
            <a:ext cx="3340576" cy="253129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E8621A"/>
          </a:solidFill>
          <a:ln w="12700">
            <a:solidFill>
              <a:srgbClr val="E862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PHASE 2: BILL OF MATERIALS &amp; ANALYSIS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77724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 of Materials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28600" y="1161288"/>
            <a:ext cx="5394960" cy="283464"/>
          </a:xfrm>
          <a:prstGeom prst="rect">
            <a:avLst/>
          </a:prstGeom>
          <a:solidFill>
            <a:srgbClr val="112A4A"/>
          </a:solidFill>
          <a:ln w="12700">
            <a:solidFill>
              <a:srgbClr val="11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1179576"/>
            <a:ext cx="1691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2011680" y="1179576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429000" y="1179576"/>
            <a:ext cx="502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977640" y="1179576"/>
            <a:ext cx="6126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636008" y="1179576"/>
            <a:ext cx="6126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28600" y="1463040"/>
            <a:ext cx="5394960" cy="283464"/>
          </a:xfrm>
          <a:prstGeom prst="rect">
            <a:avLst/>
          </a:prstGeom>
          <a:solidFill>
            <a:srgbClr val="112A4A"/>
          </a:solidFill>
          <a:ln w="12700">
            <a:solidFill>
              <a:srgbClr val="11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74320" y="1481328"/>
            <a:ext cx="1691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Microcontroller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2011680" y="1481328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Uno R3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429000" y="1481328"/>
            <a:ext cx="502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977640" y="1481328"/>
            <a:ext cx="6126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50mA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636008" y="1481328"/>
            <a:ext cx="6126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25g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28600" y="1764792"/>
            <a:ext cx="5394960" cy="283464"/>
          </a:xfrm>
          <a:prstGeom prst="rect">
            <a:avLst/>
          </a:prstGeom>
          <a:solidFill>
            <a:srgbClr val="0D2035"/>
          </a:solidFill>
          <a:ln w="12700">
            <a:solidFill>
              <a:srgbClr val="0D20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74320" y="1783080"/>
            <a:ext cx="1691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Pressure/Humidity/Temp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011680" y="1783080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Adafruit HSB007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429000" y="1783080"/>
            <a:ext cx="502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977640" y="1783080"/>
            <a:ext cx="6126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3mA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636008" y="1783080"/>
            <a:ext cx="6126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5g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28600" y="2066544"/>
            <a:ext cx="5394960" cy="283464"/>
          </a:xfrm>
          <a:prstGeom prst="rect">
            <a:avLst/>
          </a:prstGeom>
          <a:solidFill>
            <a:srgbClr val="112A4A"/>
          </a:solidFill>
          <a:ln w="12700">
            <a:solidFill>
              <a:srgbClr val="11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274320" y="2084832"/>
            <a:ext cx="1691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Triple Axis Accel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2011680" y="2084832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SparkFun LIS3DH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3429000" y="2084832"/>
            <a:ext cx="502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3977640" y="2084832"/>
            <a:ext cx="6126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0.5mA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636008" y="2084832"/>
            <a:ext cx="6126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5g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228600" y="2368296"/>
            <a:ext cx="5394960" cy="283464"/>
          </a:xfrm>
          <a:prstGeom prst="rect">
            <a:avLst/>
          </a:prstGeom>
          <a:solidFill>
            <a:srgbClr val="0D2035"/>
          </a:solidFill>
          <a:ln w="12700">
            <a:solidFill>
              <a:srgbClr val="0D20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274320" y="2386584"/>
            <a:ext cx="1691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Temp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2011680" y="2386584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TMP36GT9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3429000" y="2386584"/>
            <a:ext cx="502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3977640" y="2386584"/>
            <a:ext cx="6126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1mA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636008" y="2386584"/>
            <a:ext cx="6126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5g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28600" y="2670048"/>
            <a:ext cx="5394960" cy="283464"/>
          </a:xfrm>
          <a:prstGeom prst="rect">
            <a:avLst/>
          </a:prstGeom>
          <a:solidFill>
            <a:srgbClr val="112A4A"/>
          </a:solidFill>
          <a:ln w="12700">
            <a:solidFill>
              <a:srgbClr val="11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274320" y="2688336"/>
            <a:ext cx="1691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2011680" y="2688336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SparkFun DEV-13712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3429000" y="2688336"/>
            <a:ext cx="502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977640" y="2688336"/>
            <a:ext cx="6126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10mA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4636008" y="2688336"/>
            <a:ext cx="6126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15g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228600" y="2971800"/>
            <a:ext cx="5394960" cy="283464"/>
          </a:xfrm>
          <a:prstGeom prst="rect">
            <a:avLst/>
          </a:prstGeom>
          <a:solidFill>
            <a:srgbClr val="0D2035"/>
          </a:solidFill>
          <a:ln w="12700">
            <a:solidFill>
              <a:srgbClr val="0D20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274320" y="2990088"/>
            <a:ext cx="1691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Logger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2011680" y="2990088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OpenLog (SD Card)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3429000" y="2990088"/>
            <a:ext cx="502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3977640" y="2990088"/>
            <a:ext cx="6126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80mA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4636008" y="2990088"/>
            <a:ext cx="6126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2g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228600" y="3273552"/>
            <a:ext cx="5394960" cy="283464"/>
          </a:xfrm>
          <a:prstGeom prst="rect">
            <a:avLst/>
          </a:prstGeom>
          <a:solidFill>
            <a:srgbClr val="112A4A"/>
          </a:solidFill>
          <a:ln w="12700">
            <a:solidFill>
              <a:srgbClr val="11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274320" y="3291840"/>
            <a:ext cx="1691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LEDs ×4 + Resistors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2011680" y="3291840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470Ω, misc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3429000" y="3291840"/>
            <a:ext cx="502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3977640" y="3291840"/>
            <a:ext cx="6126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10mA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4636008" y="3291840"/>
            <a:ext cx="6126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1g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228600" y="3575304"/>
            <a:ext cx="5394960" cy="283464"/>
          </a:xfrm>
          <a:prstGeom prst="rect">
            <a:avLst/>
          </a:prstGeom>
          <a:solidFill>
            <a:srgbClr val="0D2035"/>
          </a:solidFill>
          <a:ln w="12700">
            <a:solidFill>
              <a:srgbClr val="0D20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274320" y="3593592"/>
            <a:ext cx="1691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Circuit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2011680" y="3593592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LD1117V33, caps, switch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3429000" y="3593592"/>
            <a:ext cx="502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3977640" y="3593592"/>
            <a:ext cx="6126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4636008" y="3593592"/>
            <a:ext cx="6126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10g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228600" y="3877056"/>
            <a:ext cx="5394960" cy="283464"/>
          </a:xfrm>
          <a:prstGeom prst="rect">
            <a:avLst/>
          </a:prstGeom>
          <a:solidFill>
            <a:srgbClr val="112A4A"/>
          </a:solidFill>
          <a:ln w="12700">
            <a:solidFill>
              <a:srgbClr val="11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274320" y="3895344"/>
            <a:ext cx="1691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9V Battery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2011680" y="3895344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alkaline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3429000" y="3895344"/>
            <a:ext cx="502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3977640" y="3895344"/>
            <a:ext cx="6126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4636008" y="3895344"/>
            <a:ext cx="6126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45g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228600" y="4178808"/>
            <a:ext cx="5394960" cy="283464"/>
          </a:xfrm>
          <a:prstGeom prst="rect">
            <a:avLst/>
          </a:prstGeom>
          <a:solidFill>
            <a:srgbClr val="0D2035"/>
          </a:solidFill>
          <a:ln w="12700">
            <a:solidFill>
              <a:srgbClr val="0D20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274320" y="4197096"/>
            <a:ext cx="1691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PCB</a:t>
            </a:r>
            <a:endParaRPr lang="en-US" sz="850" dirty="0"/>
          </a:p>
        </p:txBody>
      </p:sp>
      <p:sp>
        <p:nvSpPr>
          <p:cNvPr id="67" name="Text 65"/>
          <p:cNvSpPr/>
          <p:nvPr/>
        </p:nvSpPr>
        <p:spPr>
          <a:xfrm>
            <a:off x="2011680" y="4197096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PCBNet — USA made</a:t>
            </a:r>
            <a:endParaRPr lang="en-US" sz="850" dirty="0"/>
          </a:p>
        </p:txBody>
      </p:sp>
      <p:sp>
        <p:nvSpPr>
          <p:cNvPr id="68" name="Text 66"/>
          <p:cNvSpPr/>
          <p:nvPr/>
        </p:nvSpPr>
        <p:spPr>
          <a:xfrm>
            <a:off x="3429000" y="4197096"/>
            <a:ext cx="502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</a:t>
            </a:r>
            <a:endParaRPr lang="en-US" sz="850" dirty="0"/>
          </a:p>
        </p:txBody>
      </p:sp>
      <p:sp>
        <p:nvSpPr>
          <p:cNvPr id="69" name="Text 67"/>
          <p:cNvSpPr/>
          <p:nvPr/>
        </p:nvSpPr>
        <p:spPr>
          <a:xfrm>
            <a:off x="3977640" y="4197096"/>
            <a:ext cx="6126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50" dirty="0"/>
          </a:p>
        </p:txBody>
      </p:sp>
      <p:sp>
        <p:nvSpPr>
          <p:cNvPr id="70" name="Text 68"/>
          <p:cNvSpPr/>
          <p:nvPr/>
        </p:nvSpPr>
        <p:spPr>
          <a:xfrm>
            <a:off x="4636008" y="4197096"/>
            <a:ext cx="6126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20g</a:t>
            </a:r>
            <a:endParaRPr lang="en-US" sz="850" dirty="0"/>
          </a:p>
        </p:txBody>
      </p:sp>
      <p:sp>
        <p:nvSpPr>
          <p:cNvPr id="71" name="Shape 69"/>
          <p:cNvSpPr/>
          <p:nvPr/>
        </p:nvSpPr>
        <p:spPr>
          <a:xfrm>
            <a:off x="228600" y="4480560"/>
            <a:ext cx="5394960" cy="283464"/>
          </a:xfrm>
          <a:prstGeom prst="rect">
            <a:avLst/>
          </a:prstGeom>
          <a:solidFill>
            <a:srgbClr val="E8621A"/>
          </a:solidFill>
          <a:ln w="12700">
            <a:solidFill>
              <a:srgbClr val="E862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Text 70"/>
          <p:cNvSpPr/>
          <p:nvPr/>
        </p:nvSpPr>
        <p:spPr>
          <a:xfrm>
            <a:off x="274320" y="4498848"/>
            <a:ext cx="1691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850" dirty="0"/>
          </a:p>
        </p:txBody>
      </p:sp>
      <p:sp>
        <p:nvSpPr>
          <p:cNvPr id="73" name="Text 71"/>
          <p:cNvSpPr/>
          <p:nvPr/>
        </p:nvSpPr>
        <p:spPr>
          <a:xfrm>
            <a:off x="2011680" y="4498848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74" name="Text 72"/>
          <p:cNvSpPr/>
          <p:nvPr/>
        </p:nvSpPr>
        <p:spPr>
          <a:xfrm>
            <a:off x="3429000" y="4498848"/>
            <a:ext cx="502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~$118</a:t>
            </a:r>
            <a:endParaRPr lang="en-US" sz="850" dirty="0"/>
          </a:p>
        </p:txBody>
      </p:sp>
      <p:sp>
        <p:nvSpPr>
          <p:cNvPr id="75" name="Text 73"/>
          <p:cNvSpPr/>
          <p:nvPr/>
        </p:nvSpPr>
        <p:spPr>
          <a:xfrm>
            <a:off x="3977640" y="4498848"/>
            <a:ext cx="6126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~155mA</a:t>
            </a:r>
            <a:endParaRPr lang="en-US" sz="850" dirty="0"/>
          </a:p>
        </p:txBody>
      </p:sp>
      <p:sp>
        <p:nvSpPr>
          <p:cNvPr id="76" name="Text 74"/>
          <p:cNvSpPr/>
          <p:nvPr/>
        </p:nvSpPr>
        <p:spPr>
          <a:xfrm>
            <a:off x="4636008" y="4498848"/>
            <a:ext cx="6126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~133g</a:t>
            </a:r>
            <a:endParaRPr lang="en-US" sz="850" dirty="0"/>
          </a:p>
        </p:txBody>
      </p:sp>
      <p:sp>
        <p:nvSpPr>
          <p:cNvPr id="77" name="Text 75"/>
          <p:cNvSpPr/>
          <p:nvPr/>
        </p:nvSpPr>
        <p:spPr>
          <a:xfrm>
            <a:off x="5852160" y="7772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</a:t>
            </a:r>
            <a:endParaRPr lang="en-US" sz="1300" dirty="0"/>
          </a:p>
        </p:txBody>
      </p:sp>
      <p:sp>
        <p:nvSpPr>
          <p:cNvPr id="78" name="Shape 76"/>
          <p:cNvSpPr/>
          <p:nvPr/>
        </p:nvSpPr>
        <p:spPr>
          <a:xfrm>
            <a:off x="5852160" y="1234440"/>
            <a:ext cx="3017520" cy="1097280"/>
          </a:xfrm>
          <a:prstGeom prst="rect">
            <a:avLst/>
          </a:prstGeom>
          <a:solidFill>
            <a:srgbClr val="0D2035"/>
          </a:solidFill>
          <a:ln w="25400">
            <a:solidFill>
              <a:srgbClr val="38B2A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9" name="Text 77"/>
          <p:cNvSpPr/>
          <p:nvPr/>
        </p:nvSpPr>
        <p:spPr>
          <a:xfrm>
            <a:off x="5943600" y="130759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8B2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Cost</a:t>
            </a:r>
            <a:endParaRPr lang="en-US" sz="1100" dirty="0"/>
          </a:p>
        </p:txBody>
      </p:sp>
      <p:sp>
        <p:nvSpPr>
          <p:cNvPr id="80" name="Text 78"/>
          <p:cNvSpPr/>
          <p:nvPr/>
        </p:nvSpPr>
        <p:spPr>
          <a:xfrm>
            <a:off x="5943600" y="155448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~$118</a:t>
            </a:r>
            <a:endParaRPr lang="en-US" sz="2600" dirty="0"/>
          </a:p>
        </p:txBody>
      </p:sp>
      <p:sp>
        <p:nvSpPr>
          <p:cNvPr id="81" name="Text 79"/>
          <p:cNvSpPr/>
          <p:nvPr/>
        </p:nvSpPr>
        <p:spPr>
          <a:xfrm>
            <a:off x="5943600" y="200253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Under $147 budget  saves ~$29</a:t>
            </a:r>
            <a:endParaRPr lang="en-US" sz="950" dirty="0"/>
          </a:p>
        </p:txBody>
      </p:sp>
      <p:sp>
        <p:nvSpPr>
          <p:cNvPr id="82" name="Shape 80"/>
          <p:cNvSpPr/>
          <p:nvPr/>
        </p:nvSpPr>
        <p:spPr>
          <a:xfrm>
            <a:off x="5852160" y="2496312"/>
            <a:ext cx="3017520" cy="1097280"/>
          </a:xfrm>
          <a:prstGeom prst="rect">
            <a:avLst/>
          </a:prstGeom>
          <a:solidFill>
            <a:srgbClr val="0D2035"/>
          </a:solidFill>
          <a:ln w="25400">
            <a:solidFill>
              <a:srgbClr val="E8621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3" name="Text 81"/>
          <p:cNvSpPr/>
          <p:nvPr/>
        </p:nvSpPr>
        <p:spPr>
          <a:xfrm>
            <a:off x="5943600" y="2569464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6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Power</a:t>
            </a:r>
            <a:endParaRPr lang="en-US" sz="1100" dirty="0"/>
          </a:p>
        </p:txBody>
      </p:sp>
      <p:sp>
        <p:nvSpPr>
          <p:cNvPr id="84" name="Text 82"/>
          <p:cNvSpPr/>
          <p:nvPr/>
        </p:nvSpPr>
        <p:spPr>
          <a:xfrm>
            <a:off x="5943600" y="2816352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~155mA</a:t>
            </a:r>
            <a:endParaRPr lang="en-US" sz="2600" dirty="0"/>
          </a:p>
        </p:txBody>
      </p:sp>
      <p:sp>
        <p:nvSpPr>
          <p:cNvPr id="85" name="Text 83"/>
          <p:cNvSpPr/>
          <p:nvPr/>
        </p:nvSpPr>
        <p:spPr>
          <a:xfrm>
            <a:off x="5943600" y="326440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sensors active</a:t>
            </a:r>
            <a:endParaRPr lang="en-US" sz="950" dirty="0"/>
          </a:p>
        </p:txBody>
      </p:sp>
      <p:sp>
        <p:nvSpPr>
          <p:cNvPr id="86" name="Shape 84"/>
          <p:cNvSpPr/>
          <p:nvPr/>
        </p:nvSpPr>
        <p:spPr>
          <a:xfrm>
            <a:off x="5852160" y="3758184"/>
            <a:ext cx="3017520" cy="1097280"/>
          </a:xfrm>
          <a:prstGeom prst="rect">
            <a:avLst/>
          </a:prstGeom>
          <a:solidFill>
            <a:srgbClr val="0D2035"/>
          </a:solidFill>
          <a:ln w="25400">
            <a:solidFill>
              <a:srgbClr val="805AD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7" name="Text 85"/>
          <p:cNvSpPr/>
          <p:nvPr/>
        </p:nvSpPr>
        <p:spPr>
          <a:xfrm>
            <a:off x="5943600" y="3831336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05A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Weight</a:t>
            </a:r>
            <a:endParaRPr lang="en-US" sz="1100" dirty="0"/>
          </a:p>
        </p:txBody>
      </p:sp>
      <p:sp>
        <p:nvSpPr>
          <p:cNvPr id="88" name="Text 86"/>
          <p:cNvSpPr/>
          <p:nvPr/>
        </p:nvSpPr>
        <p:spPr>
          <a:xfrm>
            <a:off x="5943600" y="4078224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~133g</a:t>
            </a:r>
            <a:endParaRPr lang="en-US" sz="2600" dirty="0"/>
          </a:p>
        </p:txBody>
      </p:sp>
      <p:sp>
        <p:nvSpPr>
          <p:cNvPr id="89" name="Text 87"/>
          <p:cNvSpPr/>
          <p:nvPr/>
        </p:nvSpPr>
        <p:spPr>
          <a:xfrm>
            <a:off x="5943600" y="45262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Under 200g limit  67g margin</a:t>
            </a:r>
            <a:endParaRPr lang="en-US" sz="950" dirty="0"/>
          </a:p>
        </p:txBody>
      </p:sp>
      <p:sp>
        <p:nvSpPr>
          <p:cNvPr id="90" name="Shape 88"/>
          <p:cNvSpPr/>
          <p:nvPr/>
        </p:nvSpPr>
        <p:spPr>
          <a:xfrm>
            <a:off x="182880" y="4743196"/>
            <a:ext cx="8686800" cy="365760"/>
          </a:xfrm>
          <a:prstGeom prst="rect">
            <a:avLst/>
          </a:prstGeom>
          <a:solidFill>
            <a:srgbClr val="0D2035"/>
          </a:solidFill>
          <a:ln w="12700">
            <a:solidFill>
              <a:srgbClr val="38B2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" name="Text 89"/>
          <p:cNvSpPr/>
          <p:nvPr/>
        </p:nvSpPr>
        <p:spPr>
          <a:xfrm>
            <a:off x="365760" y="4690872"/>
            <a:ext cx="8412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8B2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PCBNet (pcbnet.com), USA-manufactured, $10/board, Free FedEx Ground shipping,  2-layer FR4,  Accepts KiCad Gerber files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621A"/>
          </a:solidFill>
          <a:ln w="12700">
            <a:solidFill>
              <a:srgbClr val="E862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3152"/>
            <a:ext cx="54864" cy="5070348"/>
          </a:xfrm>
          <a:prstGeom prst="rect">
            <a:avLst/>
          </a:prstGeom>
          <a:solidFill>
            <a:srgbClr val="E8621A"/>
          </a:solidFill>
          <a:ln w="12700">
            <a:solidFill>
              <a:srgbClr val="E862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50292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8412480" cy="1188720"/>
          </a:xfrm>
          <a:prstGeom prst="rect">
            <a:avLst/>
          </a:prstGeom>
          <a:solidFill>
            <a:srgbClr val="0D2035"/>
          </a:solidFill>
          <a:ln w="25400">
            <a:solidFill>
              <a:srgbClr val="38B2A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8B2A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Phase 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178308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Documented all components, mapped pin assignments, computed 146mA power draw and ~147g total weight. Identified 4 unavailable parts blocking production.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2755900"/>
            <a:ext cx="8412480" cy="1188720"/>
          </a:xfrm>
          <a:prstGeom prst="rect">
            <a:avLst/>
          </a:prstGeom>
          <a:solidFill>
            <a:srgbClr val="0D2035"/>
          </a:solidFill>
          <a:ln w="25400">
            <a:solidFill>
              <a:srgbClr val="E8621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27889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62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Phase 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82880" y="4892040"/>
            <a:ext cx="8778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Angel F. Avila  ·  ENCE 3231 Microprocessors 1  ·  University of Denver  ·  Winter 2026</a:t>
            </a:r>
            <a:endParaRPr lang="en-US" sz="900" dirty="0"/>
          </a:p>
        </p:txBody>
      </p:sp>
      <p:sp>
        <p:nvSpPr>
          <p:cNvPr id="15" name="Text 8">
            <a:extLst>
              <a:ext uri="{FF2B5EF4-FFF2-40B4-BE49-F238E27FC236}">
                <a16:creationId xmlns:a16="http://schemas.microsoft.com/office/drawing/2014/main" id="{FB13BD48-D742-EDD6-196F-06AF3FD99A5A}"/>
              </a:ext>
            </a:extLst>
          </p:cNvPr>
          <p:cNvSpPr/>
          <p:nvPr/>
        </p:nvSpPr>
        <p:spPr>
          <a:xfrm>
            <a:off x="548640" y="3127248"/>
            <a:ext cx="8046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an alternative PCB using the same sensor suite: HIH-4030/31, SSCDAN, ADXL335, TMP36 ×2, SparkFun DEV-13712, and OpenLog. Custom KiCad shield PCB keeps full functionality under $147 budget and under 200g weight limit.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41EB73139549E468BC30D258E17329A" ma:contentTypeVersion="13" ma:contentTypeDescription="Create a new document." ma:contentTypeScope="" ma:versionID="1007a2b5b9593e4c20ff15babac23ab3">
  <xsd:schema xmlns:xsd="http://www.w3.org/2001/XMLSchema" xmlns:xs="http://www.w3.org/2001/XMLSchema" xmlns:p="http://schemas.microsoft.com/office/2006/metadata/properties" xmlns:ns3="29397954-39ea-4bbd-b56c-8a05becd058a" xmlns:ns4="02a793d1-72e4-4115-8d1e-84af4702e7cb" targetNamespace="http://schemas.microsoft.com/office/2006/metadata/properties" ma:root="true" ma:fieldsID="bca7980d3fc252b13af2c2424a9f2b48" ns3:_="" ns4:_="">
    <xsd:import namespace="29397954-39ea-4bbd-b56c-8a05becd058a"/>
    <xsd:import namespace="02a793d1-72e4-4115-8d1e-84af4702e7cb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SearchProperties" minOccurs="0"/>
                <xsd:element ref="ns3:MediaServiceDateTaken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9397954-39ea-4bbd-b56c-8a05becd058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1" nillable="true" ma:displayName="_activity" ma:hidden="true" ma:internalName="_activity">
      <xsd:simpleType>
        <xsd:restriction base="dms:Note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7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2a793d1-72e4-4115-8d1e-84af4702e7cb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29397954-39ea-4bbd-b56c-8a05becd058a" xsi:nil="true"/>
  </documentManagement>
</p:properties>
</file>

<file path=customXml/itemProps1.xml><?xml version="1.0" encoding="utf-8"?>
<ds:datastoreItem xmlns:ds="http://schemas.openxmlformats.org/officeDocument/2006/customXml" ds:itemID="{F52E6BBE-FAE3-49FA-AE62-2E37A14A7CC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9397954-39ea-4bbd-b56c-8a05becd058a"/>
    <ds:schemaRef ds:uri="02a793d1-72e4-4115-8d1e-84af4702e7c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732C3AA-2F09-4B95-BB97-FA7CABA5EB8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E77556C-58DA-4316-A18A-B036201E9BC6}">
  <ds:schemaRefs>
    <ds:schemaRef ds:uri="29397954-39ea-4bbd-b56c-8a05becd058a"/>
    <ds:schemaRef ds:uri="http://www.w3.org/XML/1998/namespac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terms/"/>
    <ds:schemaRef ds:uri="http://purl.org/dc/dcmitype/"/>
    <ds:schemaRef ds:uri="02a793d1-72e4-4115-8d1e-84af4702e7cb"/>
    <ds:schemaRef ds:uri="http://schemas.microsoft.com/office/2006/metadata/properties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133</TotalTime>
  <Words>990</Words>
  <Application>Microsoft Office PowerPoint</Application>
  <PresentationFormat>On-screen Show (16:9)</PresentationFormat>
  <Paragraphs>269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Arial Black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DemoSat High Altitude Balloon Payload – Final Project</dc:title>
  <dc:subject>PptxGenJS Presentation</dc:subject>
  <dc:creator>Angel F. Avila</dc:creator>
  <cp:lastModifiedBy>Avila Avila Ponce</cp:lastModifiedBy>
  <cp:revision>3</cp:revision>
  <dcterms:created xsi:type="dcterms:W3CDTF">2026-03-13T12:03:43Z</dcterms:created>
  <dcterms:modified xsi:type="dcterms:W3CDTF">2026-03-13T14:19:47Z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0x010100741EB73139549E468BC30D258E17329A</vt:lpwstr>
  </property>
</Properties>
</file>